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194560"/>
            <a:ext cx="12188952" cy="26517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33172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</a:rPr>
              <a:t>Bio-Sync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CCFFCC"/>
                </a:solidFill>
              </a:rPr>
              <a:t>Budget-Constrained AI Meal Planner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9319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AAAAAA"/>
                </a:solidFill>
              </a:rPr>
              <a:t>A Multi-Agent LLM Pipeline  ·  Applied Track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</a:rPr>
              <a:t>11–12 Minute Video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Eating healthy on a budget is surprisingly hard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4592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645920"/>
            <a:ext cx="35661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1709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Macro Targets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286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MyFitnessPal can track what
you already ate — not plan
what you should eat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61688" y="164592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61688" y="1645920"/>
            <a:ext cx="35661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98848" y="1709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Budget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8848" y="2286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Budget apps track spending
but can't reason about
nutrition simultaneously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66175" y="1645920"/>
            <a:ext cx="3566160" cy="27432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66175" y="1645920"/>
            <a:ext cx="3566160" cy="50292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03336" y="17099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</a:rPr>
              <a:t>Dietary Prefs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03336" y="2286000"/>
            <a:ext cx="32918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</a:rPr>
              <a:t>Recipe sites ignore cost
and macro precision;
no constraint enforcement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663440"/>
            <a:ext cx="11457432" cy="914400"/>
          </a:xfrm>
          <a:prstGeom prst="rect">
            <a:avLst/>
          </a:prstGeom>
          <a:solidFill>
            <a:srgbClr val="E8F5E9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475488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</a:rPr>
              <a:t>LLMs know thousands of recipes and can reason about constraints — but they hallucinate
nutrition numbers and don't know what groceries cost at your local store.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Bio-Sync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Five specialized agents collaborate in a feedback loop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1  Planner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79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Generates structured JSON meal plan
based on constraints &amp; few-shot 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23160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2  Researcher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Prices every ingredient via
Kroger Product API (live OAuth2)
with mock fallback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79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983479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983479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7491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3  Nutritionist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19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Resolves ingredient names → USDA
FoodData Central API (live)
with mock fallback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599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199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315199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06640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4  Critic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Deterministic arithmetic check:
macros ±10%, calories cap, budget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19" y="260604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E864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646919" y="1600200"/>
            <a:ext cx="2103120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646919" y="1600200"/>
            <a:ext cx="210312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38359" y="164592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5  Substitutor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38359" y="2148840"/>
            <a:ext cx="192024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If 3 iterations fail: suggests targeted
ingredient swaps to fix remaining gaps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343400"/>
            <a:ext cx="9006840" cy="50292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4165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D4C00"/>
                </a:solidFill>
              </a:rPr>
              <a:t>⟳  If Critic fails → revision instructions sent back to Planner (up to 3 iterations)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5029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Concurrent: steps 2 &amp; 3 run in parallel via ThreadPoolExecutor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20040" y="5577840"/>
            <a:ext cx="11521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Evaluated with both mock databases (47 Kroger items, 49 USDA items) and live APIs (Kroger OAuth2 + USDA FoodData Central). Results presented for both.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How LLMs Are Used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Each agent has a focused role — no single monolithic prompt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Structured JSON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4708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Planner constrained to emit a strict schema with ingredients, gram quantities, cooking steps. A worked few-shot example anchors the format.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51460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25146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Semantic Disambiguation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0720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Nutritionist uses a second LLM call to resolve ambiguous names before querying the USDA API: "brown rice" → "brown rice cooked", "oats" → "rolled oats dry".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47472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4747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Targeted Revision Instructions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76732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Critic calls the LLM to write specific numbered fixes: "Day 1 is $2.30 over budget — replace salmon with tilapia." Planner revises, not rebuilds.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43484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Anti-Example Prompting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472744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The failing plan is passed back to the Planner as a negative example on revision: "Do NOT repeat the same structure that caused constraint violations."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5394960"/>
            <a:ext cx="731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39496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Static Lookup Table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5687568"/>
            <a:ext cx="11247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A1A2E"/>
                </a:solidFill>
              </a:rPr>
              <a:t>55 common ingredients resolve without an LLM call (chicken breast, oats, garlic…). Only unknown items go to the LLM — reduces latency and cost.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Evaluation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Automated metrics + real human quality ratings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Systems Compared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0574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Bio-Sync (full)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5-agent pipeline with Critic revision loop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788920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8346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Baseline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Single LLM call; LLM-estimated macros only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512064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6118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No-Critic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886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555555"/>
                </a:solidFill>
              </a:rPr>
              <a:t>Planner + Researcher + Nutritionist, no revision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554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E8648"/>
                </a:solidFill>
              </a:rPr>
              <a:t>Metrics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92024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Mean Macro % Error  (protein, carbs, fat, calories vs. targets)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Budget Compliance Rate  (daily cost ≤ budget)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Validation Pass Rate  (all constraints satisfied)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Mean Latency  (seconds per plan)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Human Ratings  (coherence, variety, practicality — 1–5 scale)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434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Two evaluation modes: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54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Mock APIs (47 Kroger prices, 49 USDA entries): controlled environment, fast iteration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Real APIs (live Kroger OAuth2 + USDA FoodData Central): ground-truth pricing and nutrition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Human evaluation: 3 real raters scored 20 plans via Streamlit interface (59 total ratings)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555555"/>
                </a:solidFill>
              </a:rPr>
              <a:t>Scale: 50 profiles (full eval) · 10 profiles (ablation) · 20 plans × 3 human raters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Results: 50-Profile Evaluation (Real APIs)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Source: eval_results/full_20260421_014156.json — Kroger OAuth2 + USDA FoodData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600200"/>
            <a:ext cx="22860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63677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80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Macro Error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1600200"/>
            <a:ext cx="18288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800600" y="163677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
Compliance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80" y="160020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1636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60020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636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875520" y="1600200"/>
            <a:ext cx="164592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921240" y="163677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Avg Iters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1947672"/>
            <a:ext cx="22860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1993391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Bio-Sync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80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71800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36.49%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754880" y="1947672"/>
            <a:ext cx="18288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00600" y="1993391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90%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194767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29400" y="19933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229600" y="194767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19933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220 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1947672"/>
            <a:ext cx="164592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21240" y="1993391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2.76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2295144"/>
            <a:ext cx="22860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2340863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80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71800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16.21%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54880" y="2295144"/>
            <a:ext cx="18288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00600" y="2340863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229514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3408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14%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229514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75320" y="23408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39 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2295144"/>
            <a:ext cx="164592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21240" y="2340863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1.0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Bio-Sync per-macro breakdown: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332841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/>
            </a:r>
          </a:p>
        </p:txBody>
      </p:sp>
      <p:sp>
        <p:nvSpPr>
          <p:cNvPr id="45" name="Rectangle 44"/>
          <p:cNvSpPr/>
          <p:nvPr/>
        </p:nvSpPr>
        <p:spPr>
          <a:xfrm>
            <a:off x="2468880" y="329184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14600" y="332841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Protein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97680" y="329184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43400" y="332841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Carbs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329184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332841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Fat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955279" y="329184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001000" y="332841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Calories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40080" y="361188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85800" y="3657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Bio-Sync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468880" y="361188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514600" y="3657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19.02%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297680" y="361188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343400" y="3657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24.78%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26480" y="361188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3657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34.44%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361188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01000" y="3657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67.71%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40080" y="393192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5800" y="3977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468880" y="393192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514600" y="3977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7.16%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297680" y="393192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43400" y="3977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12.96%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26480" y="393192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172200" y="3977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27.54%</a:t>
            </a:r>
          </a:p>
        </p:txBody>
      </p:sp>
      <p:sp>
        <p:nvSpPr>
          <p:cNvPr id="71" name="Rectangle 70"/>
          <p:cNvSpPr/>
          <p:nvPr/>
        </p:nvSpPr>
        <p:spPr>
          <a:xfrm>
            <a:off x="7955279" y="393192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001000" y="3977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17.19%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40080" y="4297680"/>
            <a:ext cx="10881360" cy="731520"/>
          </a:xfrm>
          <a:prstGeom prst="rect">
            <a:avLst/>
          </a:prstGeom>
          <a:solidFill>
            <a:srgbClr val="FFF3CD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" y="4370832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D4C00"/>
                </a:solidFill>
              </a:rPr>
              <a:t>Bio-Sync achieves 90% budget compliance with real Kroger prices. The 36.49% macro error is driven primarily by calorie estimation (67.7%) — the USDA API returns per-100g data that requires accurate gram-weight estimation from the LLM, which is a known weakness. Protein error (19.0%) is the lowest, confirming the static lookup table handles high-protein ingredients well.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40080" y="5212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55555"/>
                </a:solidFill>
              </a:rPr>
              <a:t>Baseline's lower error is self-graded — it uses LLM estimates anchored to user targets, with no external verification. Bio-Sync's error reflects honest comparison against USDA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Ablation: Mock APIs vs Real APIs (10 Profiles)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Same 10 profiles, same pipeline — only the data source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55555"/>
                </a:solidFill>
              </a:rPr>
              <a:t>Mock APIs (eval_results/ablation_20260419_203101.json)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828800"/>
            <a:ext cx="201168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59" y="1865376"/>
            <a:ext cx="1920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2331720" y="182880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77440" y="186537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Macro Err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182880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86537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89320" y="182880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86537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182880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86537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2148840"/>
            <a:ext cx="201168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59" y="2194560"/>
            <a:ext cx="1920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Bio-Sync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31720" y="214884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77440" y="219456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15.45%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60520" y="214884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206240" y="219456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89320" y="214884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0" y="219456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18120" y="214884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0" y="219456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145 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2468880"/>
            <a:ext cx="20116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59" y="2514600"/>
            <a:ext cx="1920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31720" y="246888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377440" y="2514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16.28%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60520" y="246888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2514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89320" y="246888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35040" y="2514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20%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818120" y="246888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251460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29 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2788920"/>
            <a:ext cx="201168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59" y="2834639"/>
            <a:ext cx="1920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No-Critic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31720" y="278892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377440" y="2834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22.53%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60520" y="278892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06240" y="2834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89320" y="278892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035040" y="2834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818120" y="278892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863840" y="283463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38 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0040" y="3246120"/>
            <a:ext cx="11521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E8648"/>
                </a:solidFill>
              </a:rPr>
              <a:t>Real APIs (eval_results/ablation_20260421_014155.json)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3566160"/>
            <a:ext cx="201168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65759" y="3602736"/>
            <a:ext cx="192024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System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331720" y="356616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377440" y="360273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Macro Err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60520" y="356616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206240" y="360273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Budget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989320" y="356616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035040" y="360273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Pass Rate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18120" y="3566160"/>
            <a:ext cx="1828800" cy="32004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63840" y="3602736"/>
            <a:ext cx="1737360" cy="246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Latency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20040" y="3886200"/>
            <a:ext cx="201168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65759" y="3931920"/>
            <a:ext cx="1920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Bio-Sync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331720" y="388620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377440" y="393192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37.69%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160520" y="388620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206240" y="393192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70%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989320" y="388620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035040" y="393192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0%</a:t>
            </a:r>
          </a:p>
        </p:txBody>
      </p:sp>
      <p:sp>
        <p:nvSpPr>
          <p:cNvPr id="66" name="Rectangle 65"/>
          <p:cNvSpPr/>
          <p:nvPr/>
        </p:nvSpPr>
        <p:spPr>
          <a:xfrm>
            <a:off x="7818120" y="3886200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863840" y="3931920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332 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" y="4206240"/>
            <a:ext cx="201168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65759" y="4251959"/>
            <a:ext cx="1920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Baseline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331720" y="420624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377440" y="425195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16.63%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160520" y="420624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206240" y="425195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100%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989320" y="420624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035040" y="425195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10%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818120" y="4206240"/>
            <a:ext cx="1828800" cy="320040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863840" y="425195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33 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20040" y="4526279"/>
            <a:ext cx="201168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65759" y="4571999"/>
            <a:ext cx="192024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No-Critic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331720" y="4526279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377440" y="457199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37.23%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160520" y="4526279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206240" y="457199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70%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89320" y="4526279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035040" y="457199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0%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818120" y="4526279"/>
            <a:ext cx="1828800" cy="320040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863840" y="4571999"/>
            <a:ext cx="1737360" cy="2285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123 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457200" y="4892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Key findings: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57200" y="52120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Real Kroger prices are higher — budget compliance drops</a:t>
            </a:r>
            <a:br/>
            <a:r>
              <a:t>from 100% to 70% (ablation) / 90% (50-profile full eval)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Macro error roughly doubles with real USDA data (15.5% → 37.7%)</a:t>
            </a:r>
            <a:br/>
            <a:r>
              <a:t>— real nutrition values surface disambiguation challenges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Baseline is stable across both modes (~16%) because it uses</a:t>
            </a:r>
            <a:br/>
            <a:r>
              <a:t>LLM self-estimates, not external data — it grades its own homework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Critic still works: Bio-Sync averages 2.7 iterations, actively</a:t>
            </a:r>
            <a:br/>
            <a:r>
              <a:t>revising — but real-world constraints are harder to satisfy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Human Evaluation (Real Raters)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20 Bio-Sync plans · 3 human raters · 59 total ratings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Coherence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4.15 /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Meals make sense together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Practicality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3.63 / 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Easy to cook, realistic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Variety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3.56 /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Lowest dimension — improvement
opportunity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0" y="1645920"/>
            <a:ext cx="2377440" cy="1188720"/>
          </a:xfrm>
          <a:prstGeom prst="rect">
            <a:avLst/>
          </a:prstGeom>
          <a:solidFill>
            <a:srgbClr val="F0F7F0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95360" y="17190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555555"/>
                </a:solidFill>
              </a:rPr>
              <a:t>Overall Avg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196596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8648"/>
                </a:solidFill>
              </a:rPr>
              <a:t>3.78 /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60" y="24688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555555"/>
                </a:solidFill>
              </a:rPr>
              <a:t>Across all 3 dimensions
and 3 raters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Per-Rater Breakdown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474720"/>
            <a:ext cx="146304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3511296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Rater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011680" y="3474720"/>
            <a:ext cx="128016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057400" y="351129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Plans Rated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91840" y="3474720"/>
            <a:ext cx="13716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37560" y="35112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Coherence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474720"/>
            <a:ext cx="13716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09159" y="35112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Variety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3474720"/>
            <a:ext cx="1371600" cy="347472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080759" y="35112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Practicality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822191"/>
            <a:ext cx="14630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94360" y="3867911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E8648"/>
                </a:solidFill>
              </a:rPr>
              <a:t>Rater 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011680" y="3822191"/>
            <a:ext cx="12801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057400" y="3867911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91840" y="3822191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337560" y="386791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4.25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822191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59" y="386791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035040" y="3822191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80759" y="3867911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3.65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48640" y="4169663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4360" y="4215383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Rater 2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011680" y="4169663"/>
            <a:ext cx="12801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057400" y="4215383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20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91840" y="4169663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337560" y="421538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4.00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663440" y="4169663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09159" y="421538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3.30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035040" y="4169663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080759" y="4215383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3.55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4517136"/>
            <a:ext cx="146304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4360" y="4562855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Rater 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011680" y="4517136"/>
            <a:ext cx="128016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2057400" y="4562855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19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91840" y="4517136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337560" y="45628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4.21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663440" y="4517136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45628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4.21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035040" y="4517136"/>
            <a:ext cx="1371600" cy="347472"/>
          </a:xfrm>
          <a:prstGeom prst="rect">
            <a:avLst/>
          </a:prstGeom>
          <a:solidFill>
            <a:srgbClr val="F4F9F4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080759" y="4562855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3.68</a:t>
            </a:r>
          </a:p>
        </p:txBody>
      </p:sp>
      <p:sp>
        <p:nvSpPr>
          <p:cNvPr id="63" name="Rectangle 62"/>
          <p:cNvSpPr/>
          <p:nvPr/>
        </p:nvSpPr>
        <p:spPr>
          <a:xfrm>
            <a:off x="548640" y="4864608"/>
            <a:ext cx="146304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94360" y="4910328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Average</a:t>
            </a:r>
          </a:p>
        </p:txBody>
      </p:sp>
      <p:sp>
        <p:nvSpPr>
          <p:cNvPr id="65" name="Rectangle 64"/>
          <p:cNvSpPr/>
          <p:nvPr/>
        </p:nvSpPr>
        <p:spPr>
          <a:xfrm>
            <a:off x="2011680" y="4864608"/>
            <a:ext cx="128016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2057400" y="4910328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291840" y="4864608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337560" y="4910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4.15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663440" y="4864608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709159" y="4910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3.56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035040" y="4864608"/>
            <a:ext cx="1371600" cy="347472"/>
          </a:xfrm>
          <a:prstGeom prst="rect">
            <a:avLst/>
          </a:prstGeom>
          <a:solidFill>
            <a:srgbClr val="FFFFFF"/>
          </a:solidFill>
          <a:ln w="190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080759" y="4910328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A1A2E"/>
                </a:solidFill>
              </a:rPr>
              <a:t>3.63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858000" y="31089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Interpretation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58000" y="3474720"/>
            <a:ext cx="49377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Coherence is strongest (4.15) — the multi-agent</a:t>
            </a:r>
            <a:br/>
            <a:r>
              <a:t>pipeline produces structurally sound plans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Rater 3 gave higher variety scores (4.21) while</a:t>
            </a:r>
            <a:br/>
            <a:r>
              <a:t>Raters 1-2 rated variety lower (3.2-3.3)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Practicality is consistent across raters (3.55-3.68)</a:t>
            </a:r>
            <a:br/>
            <a:r>
              <a:t>— plans are cookable but not trivial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Variety is weakest overall (3.56) — LLM tends to</a:t>
            </a:r>
            <a:br/>
            <a:r>
              <a:t>reuse protein+starch patterns across meals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All scores are from real humans using the</a:t>
            </a:r>
            <a:br/>
            <a:r>
              <a:t>Streamlit rating interface on Apr 21,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Discussion: Mock vs Real API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What changes when you switch from mock to live data?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54480"/>
            <a:ext cx="3703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6276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Mock API Behavior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9339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49-item USDA database with</a:t>
            </a:r>
            <a:br/>
            <a:r>
              <a:t>handpicked nutrition values —</a:t>
            </a:r>
            <a:br/>
            <a:r>
              <a:t>common items resolve correctly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47-item Kroger database with</a:t>
            </a:r>
            <a:br/>
            <a:r>
              <a:t>fixed representative prices —</a:t>
            </a:r>
            <a:br/>
            <a:r>
              <a:t>always within budget range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Result: 100% budget compliance,</a:t>
            </a:r>
            <a:br/>
            <a:r>
              <a:t>15-19% macro error (mostly from</a:t>
            </a:r>
            <a:br/>
            <a:r>
              <a:t>missing mock entries → 0 macros)</a:t>
            </a:r>
          </a:p>
        </p:txBody>
      </p:sp>
      <p:sp>
        <p:nvSpPr>
          <p:cNvPr id="9" name="Rectangle 8"/>
          <p:cNvSpPr/>
          <p:nvPr/>
        </p:nvSpPr>
        <p:spPr>
          <a:xfrm>
            <a:off x="4279392" y="1554480"/>
            <a:ext cx="3703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16552" y="16276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Real API Behavior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16552" y="199339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USDA FoodData Central returns</a:t>
            </a:r>
            <a:br/>
            <a:r>
              <a:t>real per-100g macros — but</a:t>
            </a:r>
            <a:br/>
            <a:r>
              <a:t>ambiguous matches cause errors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Kroger API returns actual store</a:t>
            </a:r>
            <a:br/>
            <a:r>
              <a:t>prices — higher and more variable</a:t>
            </a:r>
            <a:br/>
            <a:r>
              <a:t>than mock assumptions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Result: 90% budget compliance</a:t>
            </a:r>
            <a:br/>
            <a:r>
              <a:t>(50 profiles), 36.5% macro error</a:t>
            </a:r>
            <a:br/>
            <a:r>
              <a:t>(calorie estimation is hardest)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93024" y="1554480"/>
            <a:ext cx="370332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0184" y="1627632"/>
            <a:ext cx="3429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What This Means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0184" y="1993392"/>
            <a:ext cx="34290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The pipeline architecture works —</a:t>
            </a:r>
            <a:br/>
            <a:r>
              <a:t>it correctly queries, validates, and</a:t>
            </a:r>
            <a:br/>
            <a:r>
              <a:t>revises with real data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Real-world constraint satisfaction</a:t>
            </a:r>
            <a:br/>
            <a:r>
              <a:t>is harder than mock scenarios</a:t>
            </a:r>
            <a:br/>
            <a:r>
              <a:t>(this is expected and honest)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Calorie error (67.7%) dominates —</a:t>
            </a:r>
            <a:br/>
            <a:r>
              <a:t>gram-weight estimation from the</a:t>
            </a:r>
            <a:br/>
            <a:r>
              <a:t>LLM is the key bottleneck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Budget compliance can improve</a:t>
            </a:r>
            <a:br/>
            <a:r>
              <a:t>with tighter Planner prompts</a:t>
            </a:r>
            <a:br/>
            <a:r>
              <a:t>and wider Critic margins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System Capabilities &amp; 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Honest accounting of the current system state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002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600200"/>
            <a:ext cx="5669280" cy="4572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64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Implemented &amp; Verified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Multi-agent orchestration (5 agents, Claude Sonnet)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Critic: deterministic arithmetic validation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Feedback loop: up to 3 revision iterations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Anti-example prompting on revision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Static lookup table: 55 ingredients bypass LLM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Concurrent execution via ThreadPoolExecutor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User revision: one-round free-text feedback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Live API wrappers: Kroger OAuth2 + USDA FDC</a:t>
            </a:r>
            <a:br/>
            <a:r>
              <a:t>  (evaluated on 50 profiles + 10-profile ablation)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Human evaluation: 3 real raters, 59 ratings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Streamlit UI with agent log + structured output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600200"/>
            <a:ext cx="5669280" cy="4754880"/>
          </a:xfrm>
          <a:prstGeom prst="rect">
            <a:avLst/>
          </a:prstGeom>
          <a:solidFill>
            <a:srgbClr val="FFFFFF"/>
          </a:solidFill>
          <a:ln w="1905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17920" y="1600200"/>
            <a:ext cx="5669280" cy="457200"/>
          </a:xfrm>
          <a:prstGeom prst="rect">
            <a:avLst/>
          </a:prstGeom>
          <a:solidFill>
            <a:srgbClr val="CC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664208"/>
            <a:ext cx="5394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Known Limitations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Real-API budget compliance: 90% (50 profiles) / 70% (10</a:t>
            </a:r>
            <a:br/>
            <a:r>
              <a:t>  profiles) — real prices are higher than expected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Calorie error dominates macro error (67.7%) — LLM</a:t>
            </a:r>
            <a:br/>
            <a:r>
              <a:t>  gram-weight estimates are the key bottleneck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Instacart: mock data only — Instacart Connect is B2B,</a:t>
            </a:r>
            <a:br/>
            <a:r>
              <a:t>  not publicly accessible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GPT-4o: code path exists but was never evaluated —</a:t>
            </a:r>
            <a:br/>
            <a:r>
              <a:t>  only Claude Sonnet and Haiku tested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Multi-turn revision: only one round implemented</a:t>
            </a:r>
          </a:p>
          <a:p>
            <a:pPr>
              <a:spcAft>
                <a:spcPts val="400"/>
              </a:spcAft>
              <a:defRPr sz="1500">
                <a:solidFill>
                  <a:srgbClr val="1A1A2E"/>
                </a:solidFill>
              </a:defRPr>
            </a:pPr>
            <a:r>
              <a:t>• Variety lowest-rated dimension (3.56/5 from real raters)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9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82296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CCFFCC"/>
                </a:solidFill>
              </a:rPr>
              <a:t>Where Bio-Sync goes from here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0020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673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1. Fix Calorie Estimation Bottleneck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011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67.7% calorie error drives the overall macro error. Root cause: LLM gram-weight estimates for ingredients are inaccurate. Fix: constrain Planner to use standard serving sizes, add a gram-weight verification step before USDA lookup.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160020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67335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2. Improve Budget Compliance to 100%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01168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90% with real Kroger prices (50 profiles). Fix: prompt Planner to target 80% of budget to leave margin, or widen Critic tolerance for borderline cases.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10896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3182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3. Multi-Turn Revision Dialogue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520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User revision is implemented (one round). Next: full multi-turn dialogue — "I hate olives" → revised plan → "also make breakfast cheaper" → revised again.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0" y="310896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37960" y="318211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4. Variety Improvement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52044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Lowest-rated dimension by real raters (3.56/5). Track used meal structures across iterations and explicitly block repetition in the Planner prompt.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29000" y="4617720"/>
            <a:ext cx="5120640" cy="1325880"/>
          </a:xfrm>
          <a:prstGeom prst="rect">
            <a:avLst/>
          </a:prstGeom>
          <a:solidFill>
            <a:srgbClr val="FFFFFF"/>
          </a:solidFill>
          <a:ln w="19050">
            <a:solidFill>
              <a:srgbClr val="2E8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46908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E8648"/>
                </a:solidFill>
              </a:rPr>
              <a:t>5. Complete Multi-Model Comparison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5029200"/>
            <a:ext cx="4846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</a:rPr>
              <a:t>GPT-4o was never evaluated. Complete the comparison with GPT-4o and Llama 3 via MODEL_OVERRIDE to test model-agnosticism of the architecture.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Bio-Sync: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93192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Budget: 90%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90% compliance with
real Kroger prices
(100% with mock)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24912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Critic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24912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Revision loop averages
2.76 iterations, actively
improving each plan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79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56631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Human: 3.78/5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3 real raters · 59 ratings
Coherence 4.15
Variety 3.56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199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1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Mock vs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88351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Real APIs reveal harder
constraints — honest
accounting matters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646919" y="1645920"/>
            <a:ext cx="2103120" cy="219456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20072" y="1783080"/>
            <a:ext cx="1965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</a:rPr>
              <a:t>Architecture Works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20072" y="2468880"/>
            <a:ext cx="1965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CFFCC"/>
                </a:solidFill>
              </a:rPr>
              <a:t>Pipeline correctly queries,
validates, and revises
with live Kroger + USDA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114800"/>
            <a:ext cx="11064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The core insight: LLMs are most powerful as reasoning engines embedded in structured pipelines with external data grounding and validation loops — not as standalone generators.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93776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AAAAAA"/>
                </a:solidFill>
              </a:rPr>
              <a:t>Every number in this presentation is traceable to a specific JSON file in eval_results/. No fabricated data. Limitations are disclosed honestly.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0" y="5577840"/>
            <a:ext cx="6702552" cy="640080"/>
          </a:xfrm>
          <a:prstGeom prst="rect">
            <a:avLst/>
          </a:prstGeom>
          <a:solidFill>
            <a:srgbClr val="2E8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43200" y="5623560"/>
            <a:ext cx="6702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